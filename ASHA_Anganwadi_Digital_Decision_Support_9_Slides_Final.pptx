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83879" y="0"/>
            <a:ext cx="4007815" cy="6858000"/>
          </a:xfrm>
          <a:prstGeom prst="rect">
            <a:avLst/>
          </a:prstGeom>
          <a:solidFill>
            <a:srgbClr val="30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52360" y="777240"/>
            <a:ext cx="1051560" cy="1051560"/>
          </a:xfrm>
          <a:prstGeom prst="ellipse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46920" y="5074920"/>
            <a:ext cx="777240" cy="777240"/>
          </a:xfrm>
          <a:prstGeom prst="ellipse">
            <a:avLst/>
          </a:prstGeom>
          <a:solidFill>
            <a:srgbClr val="776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61320" y="960120"/>
            <a:ext cx="384048" cy="384048"/>
          </a:xfrm>
          <a:prstGeom prst="ellipse">
            <a:avLst/>
          </a:prstGeom>
          <a:solidFill>
            <a:srgbClr val="F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68580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6F5B"/>
                </a:solidFill>
                <a:latin typeface="Aptos"/>
              </a:rPr>
              <a:t>COMMUNITY HEALTH • DIGITAL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98448"/>
            <a:ext cx="6858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302357"/>
                </a:solidFill>
                <a:latin typeface="Aptos"/>
              </a:rPr>
              <a:t>Digital Decision Support
for ASHA &amp; Anganwadi Workers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7180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A2733"/>
                </a:solidFill>
                <a:latin typeface="Aptos"/>
              </a:rPr>
              <a:t>A practical approach to organizing community-health information,
prioritizing follow-ups and supporting frontline workers.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96528" y="1508760"/>
            <a:ext cx="2057400" cy="2057400"/>
          </a:xfrm>
          <a:prstGeom prst="roundRect">
            <a:avLst/>
          </a:prstGeom>
          <a:solidFill>
            <a:srgbClr val="EF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89720" y="1847088"/>
            <a:ext cx="1234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0" b="1">
                <a:solidFill>
                  <a:srgbClr val="EF6F5B"/>
                </a:solidFill>
                <a:latin typeface="Aptos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88620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Community
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70" y="4928136"/>
            <a:ext cx="5302557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50" b="0" dirty="0" smtClean="0">
                <a:solidFill>
                  <a:srgbClr val="696570"/>
                </a:solidFill>
                <a:latin typeface="Aptos"/>
              </a:rPr>
              <a:t>Name :- </a:t>
            </a:r>
            <a:r>
              <a:rPr lang="en-US" sz="1150" b="0" dirty="0" err="1" smtClean="0">
                <a:solidFill>
                  <a:srgbClr val="696570"/>
                </a:solidFill>
                <a:latin typeface="Aptos"/>
              </a:rPr>
              <a:t>Kinjal</a:t>
            </a:r>
            <a:r>
              <a:rPr lang="en-US" sz="1150" b="0" dirty="0" smtClean="0">
                <a:solidFill>
                  <a:srgbClr val="696570"/>
                </a:solidFill>
                <a:latin typeface="Aptos"/>
              </a:rPr>
              <a:t> Mohan </a:t>
            </a:r>
            <a:r>
              <a:rPr lang="en-US" sz="1150" b="0" dirty="0" err="1" smtClean="0">
                <a:solidFill>
                  <a:srgbClr val="696570"/>
                </a:solidFill>
                <a:latin typeface="Aptos"/>
              </a:rPr>
              <a:t>Patil</a:t>
            </a:r>
            <a:endParaRPr lang="en-US" sz="1150" b="0" dirty="0" smtClean="0">
              <a:solidFill>
                <a:srgbClr val="696570"/>
              </a:solidFill>
              <a:latin typeface="Aptos"/>
            </a:endParaRPr>
          </a:p>
          <a:p>
            <a:pPr algn="l"/>
            <a:r>
              <a:rPr lang="en-US" sz="1150" dirty="0" smtClean="0">
                <a:solidFill>
                  <a:srgbClr val="696570"/>
                </a:solidFill>
                <a:latin typeface="Aptos"/>
              </a:rPr>
              <a:t>Roll no : 13</a:t>
            </a:r>
          </a:p>
          <a:p>
            <a:pPr algn="l"/>
            <a:r>
              <a:rPr lang="en-US" sz="1150" b="0" dirty="0" err="1" smtClean="0">
                <a:solidFill>
                  <a:srgbClr val="696570"/>
                </a:solidFill>
                <a:latin typeface="Aptos"/>
              </a:rPr>
              <a:t>Div</a:t>
            </a:r>
            <a:r>
              <a:rPr lang="en-US" sz="1150" b="0" dirty="0" smtClean="0">
                <a:solidFill>
                  <a:srgbClr val="696570"/>
                </a:solidFill>
                <a:latin typeface="Aptos"/>
              </a:rPr>
              <a:t> :- C</a:t>
            </a:r>
          </a:p>
          <a:p>
            <a:pPr algn="l"/>
            <a:endParaRPr sz="1150" b="0" dirty="0">
              <a:solidFill>
                <a:srgbClr val="696570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0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Community Health at the Frontline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0DAEE"/>
                </a:solidFill>
                <a:latin typeface="Aptos"/>
              </a:rPr>
              <a:t>Understanding the role of ASHA and Anganwadi 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FB7AB"/>
                </a:solidFill>
                <a:latin typeface="Apto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170432"/>
            <a:ext cx="685800" cy="64008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73152" cy="416052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80136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02357"/>
                </a:solidFill>
                <a:latin typeface="Aptos"/>
              </a:rPr>
              <a:t>ASHA Workers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12848"/>
            <a:ext cx="2971800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733"/>
                </a:solidFill>
                <a:latin typeface="Aptos"/>
              </a:rPr>
              <a:t>Serve as a community link to the public health system. Their work includes health awareness, maternal and child health support, immunization mobilization, referrals and household follow-up.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73152" cy="4160520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80136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02357"/>
                </a:solidFill>
                <a:latin typeface="Aptos"/>
              </a:rPr>
              <a:t>Anganwadi Workers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212848"/>
            <a:ext cx="2971800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733"/>
                </a:solidFill>
                <a:latin typeface="Aptos"/>
              </a:rPr>
              <a:t>Support early childhood development and nutrition-related services. They maintain beneficiary information and contribute to growth and community-level monitoring.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600200"/>
            <a:ext cx="73152" cy="416052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1" y="180136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02357"/>
                </a:solidFill>
                <a:latin typeface="Aptos"/>
              </a:rPr>
              <a:t>Why Their Work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212848"/>
            <a:ext cx="2971800" cy="341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733"/>
                </a:solidFill>
                <a:latin typeface="Aptos"/>
              </a:rPr>
              <a:t>These workers operate close to families and communities. Their information and follow-up activities can influence how quickly people are connected with appropriate services.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0533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2357"/>
                </a:solidFill>
                <a:latin typeface="Aptos"/>
              </a:rPr>
              <a:t>Frontline workers need information that is easy to record, retrieve and act upon.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0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The Core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0DAEE"/>
                </a:solidFill>
                <a:latin typeface="Aptos"/>
              </a:rPr>
              <a:t>Multiple responsibilities can make information and follow-up management difficult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FB7AB"/>
                </a:solidFill>
                <a:latin typeface="Apto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170432"/>
            <a:ext cx="685800" cy="64008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66294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0195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F6F5B"/>
                </a:solidFill>
                <a:latin typeface="Apto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95728"/>
            <a:ext cx="59436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02357"/>
                </a:solidFill>
                <a:latin typeface="Aptos"/>
              </a:rPr>
              <a:t>ASHA and Anganwadi workers handle many community-health activities, but records, tasks and follow-ups can be difficult to coordinate when information is spread across manual or separate processes.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224528"/>
            <a:ext cx="5943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A2733"/>
                </a:solidFill>
                <a:latin typeface="Aptos"/>
              </a:rPr>
              <a:t>Limited decision-support can make it harder to recognize priorities and respond at the right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60020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1600200"/>
            <a:ext cx="73152" cy="123444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91271" y="180136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2357"/>
                </a:solidFill>
                <a:latin typeface="Aptos"/>
              </a:rPr>
              <a:t>Many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2212848"/>
            <a:ext cx="33832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2733"/>
                </a:solidFill>
                <a:latin typeface="Aptos"/>
              </a:rPr>
              <a:t>Maternal care, child nutrition, immunization, screening and referrals.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0175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3017520"/>
            <a:ext cx="73152" cy="1234440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1" y="321868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2357"/>
                </a:solidFill>
                <a:latin typeface="Aptos"/>
              </a:rPr>
              <a:t>Information effort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3630168"/>
            <a:ext cx="33832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2733"/>
                </a:solidFill>
                <a:latin typeface="Aptos"/>
              </a:rPr>
              <a:t>Repeated recording and manual retrieval can consume valuable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43484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35240" y="4434840"/>
            <a:ext cx="73152" cy="123444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91271" y="4636007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2357"/>
                </a:solidFill>
                <a:latin typeface="Aptos"/>
              </a:rPr>
              <a:t>Follow-up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1" y="5047488"/>
            <a:ext cx="33832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2733"/>
                </a:solidFill>
                <a:latin typeface="Aptos"/>
              </a:rPr>
              <a:t>Pending actions may be harder to prioritize without timely prompts.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0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Why the Challenge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0DAEE"/>
                </a:solidFill>
                <a:latin typeface="Aptos"/>
              </a:rPr>
              <a:t>Key factors to investigate through the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FB7AB"/>
                </a:solidFill>
                <a:latin typeface="Apto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170432"/>
            <a:ext cx="685800" cy="64008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73152" cy="109728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755648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1  Manual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67128"/>
            <a:ext cx="4617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2733"/>
                </a:solidFill>
                <a:latin typeface="Aptos"/>
              </a:rPr>
              <a:t>Paper-based entries create storage and retrieval effort.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07791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907791"/>
            <a:ext cx="73152" cy="1097280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3108960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2  Repeated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520439"/>
            <a:ext cx="4617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2733"/>
                </a:solidFill>
                <a:latin typeface="Aptos"/>
              </a:rPr>
              <a:t>Related information may need to be entered in more than one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61104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4261104"/>
            <a:ext cx="73152" cy="109728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446227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3  Scattered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873752"/>
            <a:ext cx="4617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2733"/>
                </a:solidFill>
                <a:latin typeface="Aptos"/>
              </a:rPr>
              <a:t>Latest relevant details may not be available in one convenient 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554480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1554480"/>
            <a:ext cx="73152" cy="1097280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9672" y="1755648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4  Delayed 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167128"/>
            <a:ext cx="4617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2733"/>
                </a:solidFill>
                <a:latin typeface="Aptos"/>
              </a:rPr>
              <a:t>Field updates may not immediately reach doctors or supervisors.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07791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2907791"/>
            <a:ext cx="73152" cy="109728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9672" y="3108960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5  No automated prompts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520439"/>
            <a:ext cx="4617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2733"/>
                </a:solidFill>
                <a:latin typeface="Aptos"/>
              </a:rPr>
              <a:t>Manual tools do not automatically highlight missed or upcoming 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6016752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96570"/>
                </a:solidFill>
                <a:latin typeface="Aptos"/>
              </a:rPr>
              <a:t>These points are research areas—not assumptions about every worker.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0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Research Gap &amp; Study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0DAEE"/>
                </a:solidFill>
                <a:latin typeface="Aptos"/>
              </a:rPr>
              <a:t>Digital data collection exists; the opportunity is stronger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FB7AB"/>
                </a:solidFill>
                <a:latin typeface="Apto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170432"/>
            <a:ext cx="685800" cy="64008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248716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73152" cy="301752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847088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2357"/>
                </a:solidFill>
                <a:latin typeface="Aptos"/>
              </a:rPr>
              <a:t>Digital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58568"/>
            <a:ext cx="2029968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2733"/>
                </a:solidFill>
                <a:latin typeface="Aptos"/>
              </a:rPr>
              <a:t>Information can be captured electronically.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3" y="276148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F6F5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48716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645920"/>
            <a:ext cx="73152" cy="3017520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1847088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2357"/>
                </a:solidFill>
                <a:latin typeface="Aptos"/>
              </a:rPr>
              <a:t>Multiple duties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258568"/>
            <a:ext cx="2029968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2733"/>
                </a:solidFill>
                <a:latin typeface="Aptos"/>
              </a:rPr>
              <a:t>Workers still manage many activities and follow-ups.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76148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F6F5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45920"/>
            <a:ext cx="248716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645920"/>
            <a:ext cx="73152" cy="301752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1847088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2357"/>
                </a:solidFill>
                <a:latin typeface="Aptos"/>
              </a:rPr>
              <a:t>Decision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258568"/>
            <a:ext cx="2029968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2733"/>
                </a:solidFill>
                <a:latin typeface="Aptos"/>
              </a:rPr>
              <a:t>Collected data may not automatically become actionable priorities.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276148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F6F5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20"/>
            <a:ext cx="248716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98280" y="1645920"/>
            <a:ext cx="73152" cy="3017520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54312" y="1847088"/>
            <a:ext cx="20299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2357"/>
                </a:solidFill>
                <a:latin typeface="Aptos"/>
              </a:rPr>
              <a:t>Study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258568"/>
            <a:ext cx="2029968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2733"/>
                </a:solidFill>
                <a:latin typeface="Aptos"/>
              </a:rPr>
              <a:t>Explore integrated, simple and useful decision-support features.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07492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6F5B"/>
                </a:solidFill>
                <a:latin typeface="Aptos"/>
              </a:rPr>
              <a:t>Central research idea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422392"/>
            <a:ext cx="9738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2357"/>
                </a:solidFill>
                <a:latin typeface="Aptos"/>
              </a:rPr>
              <a:t>Can better-integrated digital support help frontline workers prioritize tasks and manage follow-ups more effectively?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0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Aim, Objectives &amp;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0DAEE"/>
                </a:solidFill>
                <a:latin typeface="Aptos"/>
              </a:rPr>
              <a:t>What the study will investigate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FB7AB"/>
                </a:solidFill>
                <a:latin typeface="Apto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170432"/>
            <a:ext cx="685800" cy="64008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52628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2357"/>
                </a:solidFill>
                <a:latin typeface="Aptos"/>
              </a:rPr>
              <a:t>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21408"/>
            <a:ext cx="3200400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A2733"/>
                </a:solidFill>
                <a:latin typeface="Aptos"/>
              </a:rPr>
              <a:t>To study the challenges faced by ASHA and Anganwadi workers in managing community-health activities and explore how digital decision-support tools could improve efficiency and follow-up.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F6F5B"/>
                </a:solidFill>
                <a:latin typeface="Aptos"/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74519"/>
            <a:ext cx="3017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A2733"/>
                </a:solidFill>
                <a:latin typeface="Aptos"/>
              </a:defRPr>
            </a:pPr>
            <a:r>
              <a:t>• Understand their major responsibilities.</a:t>
            </a:r>
          </a:p>
          <a:p>
            <a:pPr>
              <a:spcAft>
                <a:spcPts val="700"/>
              </a:spcAft>
              <a:defRPr sz="1200">
                <a:solidFill>
                  <a:srgbClr val="2A2733"/>
                </a:solidFill>
                <a:latin typeface="Aptos"/>
              </a:defRPr>
            </a:pPr>
            <a:r>
              <a:t>• Identify difficulties in information and follow-up management.</a:t>
            </a:r>
          </a:p>
          <a:p>
            <a:pPr>
              <a:spcAft>
                <a:spcPts val="700"/>
              </a:spcAft>
              <a:defRPr sz="1200">
                <a:solidFill>
                  <a:srgbClr val="2A2733"/>
                </a:solidFill>
                <a:latin typeface="Aptos"/>
              </a:defRPr>
            </a:pPr>
            <a:r>
              <a:t>• Study awareness and use of digital health tools.</a:t>
            </a:r>
          </a:p>
          <a:p>
            <a:pPr>
              <a:spcAft>
                <a:spcPts val="700"/>
              </a:spcAft>
              <a:defRPr sz="1200">
                <a:solidFill>
                  <a:srgbClr val="2A2733"/>
                </a:solidFill>
                <a:latin typeface="Aptos"/>
              </a:defRPr>
            </a:pPr>
            <a:r>
              <a:t>• Identify features workers would find useful.</a:t>
            </a:r>
          </a:p>
          <a:p>
            <a:pPr>
              <a:spcAft>
                <a:spcPts val="700"/>
              </a:spcAft>
              <a:defRPr sz="1200">
                <a:solidFill>
                  <a:srgbClr val="2A2733"/>
                </a:solidFill>
                <a:latin typeface="Aptos"/>
              </a:defRPr>
            </a:pPr>
            <a:r>
              <a:t>• Propose a user-friendly digital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F6F5B"/>
                </a:solidFill>
                <a:latin typeface="Aptos"/>
              </a:rPr>
              <a:t>RESEARCH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874519"/>
            <a:ext cx="3246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A2733"/>
                </a:solidFill>
                <a:latin typeface="Aptos"/>
              </a:defRPr>
            </a:pPr>
            <a:r>
              <a:t>• What challenges occur while managing multiple activities?</a:t>
            </a:r>
          </a:p>
          <a:p>
            <a:pPr>
              <a:spcAft>
                <a:spcPts val="700"/>
              </a:spcAft>
              <a:defRPr sz="1200">
                <a:solidFill>
                  <a:srgbClr val="2A2733"/>
                </a:solidFill>
                <a:latin typeface="Aptos"/>
              </a:defRPr>
            </a:pPr>
            <a:r>
              <a:t>• How is beneficiary information currently managed?</a:t>
            </a:r>
          </a:p>
          <a:p>
            <a:pPr>
              <a:spcAft>
                <a:spcPts val="700"/>
              </a:spcAft>
              <a:defRPr sz="1200">
                <a:solidFill>
                  <a:srgbClr val="2A2733"/>
                </a:solidFill>
                <a:latin typeface="Aptos"/>
              </a:defRPr>
            </a:pPr>
            <a:r>
              <a:t>• What problems arise with paper or digital processes?</a:t>
            </a:r>
          </a:p>
          <a:p>
            <a:pPr>
              <a:spcAft>
                <a:spcPts val="700"/>
              </a:spcAft>
              <a:defRPr sz="1200">
                <a:solidFill>
                  <a:srgbClr val="2A2733"/>
                </a:solidFill>
                <a:latin typeface="Aptos"/>
              </a:defRPr>
            </a:pPr>
            <a:r>
              <a:t>• Which features could reduce workload?</a:t>
            </a:r>
          </a:p>
          <a:p>
            <a:pPr>
              <a:spcAft>
                <a:spcPts val="700"/>
              </a:spcAft>
              <a:defRPr sz="1200">
                <a:solidFill>
                  <a:srgbClr val="2A2733"/>
                </a:solidFill>
                <a:latin typeface="Aptos"/>
              </a:defRPr>
            </a:pPr>
            <a:r>
              <a:t>• Can reminders and priority alerts improve follow-up?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0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Survey &amp; 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0DAEE"/>
                </a:solidFill>
                <a:latin typeface="Aptos"/>
              </a:rPr>
              <a:t>Collect evidence before finalizing the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FB7AB"/>
                </a:solidFill>
                <a:latin typeface="Apto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170432"/>
            <a:ext cx="685800" cy="64008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205740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2357"/>
                </a:solidFill>
                <a:latin typeface="Aptos"/>
              </a:rPr>
              <a:t>Primary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21408"/>
            <a:ext cx="301752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A2733"/>
                </a:solidFill>
                <a:latin typeface="Aptos"/>
              </a:rPr>
              <a:t>Questionnaire / Google Form
Interviews, where possible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9476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794760"/>
            <a:ext cx="73152" cy="2057400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99592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2357"/>
                </a:solidFill>
                <a:latin typeface="Aptos"/>
              </a:rPr>
              <a:t>Secondary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407408"/>
            <a:ext cx="301752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A2733"/>
                </a:solidFill>
                <a:latin typeface="Aptos"/>
              </a:rPr>
              <a:t>Government reports
NHM guidelines
Research papers
Official programme documents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508760"/>
            <a:ext cx="3474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1508760"/>
            <a:ext cx="73152" cy="434340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90872" y="170992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2357"/>
                </a:solidFill>
                <a:latin typeface="Aptos"/>
              </a:rPr>
              <a:t>Target Respondents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121408"/>
            <a:ext cx="3017520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A2733"/>
                </a:solidFill>
                <a:latin typeface="Aptos"/>
              </a:rPr>
              <a:t>Priority respondents:
• ASHA workers
• Anganwadi workers
If direct access is difficult:
• Community members
• Parents/guardians
• Students for awareness-related questions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508760"/>
            <a:ext cx="3337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1508760"/>
            <a:ext cx="73152" cy="4343400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9911" y="170992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2357"/>
                </a:solidFill>
                <a:latin typeface="Aptos"/>
              </a:rPr>
              <a:t>Survey Areas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121408"/>
            <a:ext cx="2880360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A2733"/>
                </a:solidFill>
                <a:latin typeface="Aptos"/>
              </a:rPr>
              <a:t>Awareness of roles
Workload and record keeping
Follow-up difficulties
Use of digital tools
Useful reminders, alerts and dashboards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0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0DAEE"/>
                </a:solidFill>
                <a:latin typeface="Aptos"/>
              </a:rPr>
              <a:t>Community Health Worker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FB7AB"/>
                </a:solidFill>
                <a:latin typeface="Aptos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170432"/>
            <a:ext cx="685800" cy="64008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A2733"/>
                </a:solidFill>
                <a:latin typeface="Aptos"/>
              </a:rPr>
              <a:t>A simple mobile application/dashboard designed to help frontline workers organize information, monitor activities and respond to pending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73152" cy="987552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304288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Beneficiary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15768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2733"/>
                </a:solidFill>
                <a:latin typeface="Aptos"/>
              </a:rPr>
              <a:t>Store and retrieve essential beneficiary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03120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103120"/>
            <a:ext cx="73152" cy="987552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304288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Maternal &amp; Child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715768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2733"/>
                </a:solidFill>
                <a:latin typeface="Aptos"/>
              </a:rPr>
              <a:t>Track relevant visits, observations and follow-ups.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10128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310128"/>
            <a:ext cx="73152" cy="987552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511296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Immunization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922776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2733"/>
                </a:solidFill>
                <a:latin typeface="Aptos"/>
              </a:rPr>
              <a:t>Maintain vaccination status and due-date reminders.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310128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310128"/>
            <a:ext cx="73152" cy="987552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3511296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Screening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922776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2733"/>
                </a:solidFill>
                <a:latin typeface="Aptos"/>
              </a:rPr>
              <a:t>Record screening information and identify follow-up needs.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17136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517136"/>
            <a:ext cx="73152" cy="987552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4718303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Follow-up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129783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2733"/>
                </a:solidFill>
                <a:latin typeface="Aptos"/>
              </a:rPr>
              <a:t>Present pending tasks in one organized 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517136"/>
            <a:ext cx="52578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4517136"/>
            <a:ext cx="73152" cy="987552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4718303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02357"/>
                </a:solidFill>
                <a:latin typeface="Aptos"/>
              </a:rPr>
              <a:t>Alerts &amp;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5129783"/>
            <a:ext cx="4800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2733"/>
                </a:solidFill>
                <a:latin typeface="Aptos"/>
              </a:rPr>
              <a:t>Highlight priorities and summarize progress.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02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Conclusion, 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0DAEE"/>
                </a:solidFill>
                <a:latin typeface="Aptos"/>
              </a:rPr>
              <a:t>Building a more connected and efficient community-health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FB7AB"/>
                </a:solidFill>
                <a:latin typeface="Aptos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170432"/>
            <a:ext cx="685800" cy="64008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3484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2357"/>
                </a:solidFill>
                <a:latin typeface="Aptos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21408"/>
            <a:ext cx="3200400" cy="3685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2A2733"/>
                </a:solidFill>
                <a:latin typeface="Aptos"/>
              </a:rPr>
              <a:t>The challenge is not a lack of effort by ASHA and Anganwadi workers. It is the growing amount of information and activity they must manage.
A user-friendly digital platform could organize records, improve follow-up visibility and make relevant information easier to share with authorized healthcare professionals.
Successful implementation should be supported by training, infrastructure, privacy protection and user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50876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1508760"/>
            <a:ext cx="73152" cy="2057400"/>
          </a:xfrm>
          <a:prstGeom prst="rect">
            <a:avLst/>
          </a:prstGeom>
          <a:solidFill>
            <a:srgbClr val="5B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73752" y="2121408"/>
            <a:ext cx="269748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2733"/>
                </a:solidFill>
                <a:latin typeface="Aptos"/>
              </a:rPr>
              <a:t>Connectivity
Smartphone availability
Digital literacy
Training needs
Data privacy
Integration with existing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0876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508760"/>
            <a:ext cx="73152" cy="2057400"/>
          </a:xfrm>
          <a:prstGeom prst="rect">
            <a:avLst/>
          </a:prstGeom>
          <a:solidFill>
            <a:srgbClr val="E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7099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2357"/>
                </a:solidFill>
                <a:latin typeface="Aptos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121408"/>
            <a:ext cx="297180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2733"/>
                </a:solidFill>
                <a:latin typeface="Aptos"/>
              </a:rPr>
              <a:t>Local-language support
Voice-based entry
Analytics dashboards
Intelligent prioritization
Predictive alerts
Offline synchronization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822191"/>
            <a:ext cx="6812280" cy="1965960"/>
          </a:xfrm>
          <a:prstGeom prst="roundRect">
            <a:avLst/>
          </a:prstGeom>
          <a:solidFill>
            <a:srgbClr val="EF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3480" y="4114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F6F5B"/>
                </a:solidFill>
                <a:latin typeface="Aptos"/>
              </a:rPr>
              <a:t>FINAL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4590288"/>
            <a:ext cx="6126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2357"/>
                </a:solidFill>
                <a:latin typeface="Aptos"/>
              </a:rPr>
              <a:t>Empower frontline workers with simple, timely and secure digital support—without replacing the human role at the heart of community healthcare.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726</Words>
  <Application>Microsoft Office PowerPoint</Application>
  <PresentationFormat>Widescreen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test</cp:lastModifiedBy>
  <cp:revision>4</cp:revision>
  <dcterms:created xsi:type="dcterms:W3CDTF">2013-01-27T09:14:16Z</dcterms:created>
  <dcterms:modified xsi:type="dcterms:W3CDTF">2026-08-30T18:18:31Z</dcterms:modified>
  <cp:category/>
</cp:coreProperties>
</file>